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handoutMasterIdLst>
    <p:handoutMasterId r:id="rId15"/>
  </p:handoutMasterIdLst>
  <p:sldIdLst>
    <p:sldId id="256" r:id="rId5"/>
    <p:sldId id="257" r:id="rId6"/>
    <p:sldId id="263" r:id="rId7"/>
    <p:sldId id="1509" r:id="rId8"/>
    <p:sldId id="1511" r:id="rId9"/>
    <p:sldId id="266" r:id="rId10"/>
    <p:sldId id="1512" r:id="rId11"/>
    <p:sldId id="1513"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58"/>
  </p:normalViewPr>
  <p:slideViewPr>
    <p:cSldViewPr snapToGrid="0">
      <p:cViewPr>
        <p:scale>
          <a:sx n="66" d="100"/>
          <a:sy n="66" d="100"/>
        </p:scale>
        <p:origin x="600" y="317"/>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4/8/2026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4/8/2026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header slide. It will be at the start of every video in this course. The only changes will be the name of the poem in light grey and a photo that matches the relevant poem on the right.</a:t>
            </a:r>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726137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agenda slide. It will inform students of what is going to be discussed in the video. This slide will always come directly after the header slide. The agenda will always stay in this order for each poem to improve predictability.</a:t>
            </a:r>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499322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vocabulary slide. It will always come directly after the agenda slide and directly before the Summary + Reading slide so that the pupils fully understand any tricky or ambiguous phrasing that is important to the poem’s meaning. Only 3-4 main phrases should be chosen. This slide gives the pupils the best chance to understand the Summary + Reading part of the video.</a:t>
            </a:r>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752388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will have a picture of the poem/relevant imagery on the right hand side and a simplified summary of the poem and its themes on the left. The summary should be read by the pupil and they should feel immediate clarity.</a:t>
            </a:r>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778982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context slide. It always comes directly after the Summary + Reading slide and directly before the zoom slides. It details the year the poem was written, and relevant context of the time period, of the author’s life and any further influences. The structure of this page may differ depending on the poet. Do not force context if it does not relate to the poem.</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77326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zoom slide. It shows an important quotation from the poem. The voice over will discuss any poetic features included in the quote and their effects. This slide should be repeated 4-7 times with different powerful quotes that pupils could use in their exams.</a:t>
            </a:r>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920654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summary slide. It shows the quotations from the zoom slides alongside clear labelling of the feature used and the impact.</a:t>
            </a:r>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325469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bits slide is an optional slide to include any extra important information that does not fit the structure given.</a:t>
            </a:r>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3229335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reflect slide. It always comes at the end and directs pupils to course materials.</a:t>
            </a:r>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1843133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112964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79543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704959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4/8/2026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1FE1A989-42EF-40B2-87AB-6941C231CD4A}" type="datetime1">
              <a:rPr lang="en-US" smtClean="0"/>
              <a:t>4/8/2026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88095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22793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4/8/2026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67208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8A60B404-9532-4DA8-8A40-EC339A5BE635}" type="datetime1">
              <a:rPr lang="en-US" smtClean="0"/>
              <a:t>4/8/2026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7526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86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1203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07564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4586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34711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46612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8FACD271-2BB0-4C13-9E3A-50B90F57CA5B}" type="datetime1">
              <a:rPr lang="en-US" smtClean="0"/>
              <a:t>4/8/2026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4/8/2026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4/8/2026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4/8/2026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EE468DAA-49F6-4492-82E6-75555EB31418}" type="datetime1">
              <a:rPr lang="en-US" smtClean="0"/>
              <a:t>4/8/2026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1D22668-A3AE-429F-A351-A1583BA90793}" type="datetime1">
              <a:rPr lang="en-US" smtClean="0"/>
              <a:t>4/8/2026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CB3A2E2B-8F4D-437C-9F55-5E913AFC716A}" type="datetime1">
              <a:rPr lang="en-US" smtClean="0"/>
              <a:t>4/8/2026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71215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6C70014-48FC-4647-9615-BBD39F98887D}" type="datetime1">
              <a:rPr lang="en-US" smtClean="0"/>
              <a:t>4/8/2026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01820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C089F4EF-3CDF-46D7-ADF4-3A52C84FD8BE}" type="datetime1">
              <a:rPr lang="en-US" smtClean="0"/>
              <a:t>4/8/2026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707826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4/8/2026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715332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2D13F81E-C5BD-4314-B9B9-AAE2702F29D2}" type="datetime1">
              <a:rPr lang="en-US" smtClean="0"/>
              <a:t>4/8/2026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4/8/2026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2888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4/8/2026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5919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9128053F-E531-4885-B604-CF1A6DEEE405}" type="datetime1">
              <a:rPr lang="en-US" smtClean="0"/>
              <a:t>4/8/2026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676810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172200" cy="4425696"/>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4/8/2026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4/8/2026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1460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4/8/2026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3807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10826496" cy="4334256"/>
          </a:xfrm>
        </p:spPr>
        <p:txBody>
          <a:bodyPr anchor="b">
            <a:normAutofit/>
          </a:bodyPr>
          <a:lstStyle>
            <a:lvl1pPr algn="l">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944" y="4718304"/>
            <a:ext cx="5897880" cy="1353312"/>
          </a:xfrm>
        </p:spPr>
        <p:txBody>
          <a:bodyPr anchor="t">
            <a:norm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544685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117601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tx1"/>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52096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4/8/2026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83138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4972" y="5428752"/>
            <a:ext cx="9043508"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956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5064" y="5349240"/>
            <a:ext cx="9043416"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69324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anchor="ctr">
            <a:normAutofit/>
          </a:bodyPr>
          <a:lstStyle>
            <a:lvl1pPr marL="137160" indent="-137160" algn="l">
              <a:lnSpc>
                <a:spcPct val="100000"/>
              </a:lnSpc>
              <a:defRPr sz="44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766651" y="5669280"/>
            <a:ext cx="8807117"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4/8/2026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86029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4/8/2026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0834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4/8/2026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82581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4/8/2026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4/8/2026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4/8/2026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4/8/2026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690216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566284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4/8/2026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685318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D291CE83-67BA-4B15-B48A-7DC5C0636664}" type="datetime1">
              <a:rPr lang="en-US" smtClean="0"/>
              <a:t>4/8/2026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677" r:id="rId1"/>
    <p:sldLayoutId id="2147483675" r:id="rId2"/>
    <p:sldLayoutId id="2147483661" r:id="rId3"/>
    <p:sldLayoutId id="2147483712" r:id="rId4"/>
    <p:sldLayoutId id="2147483698" r:id="rId5"/>
    <p:sldLayoutId id="2147483728" r:id="rId6"/>
    <p:sldLayoutId id="2147483735" r:id="rId7"/>
    <p:sldLayoutId id="2147483758" r:id="rId8"/>
    <p:sldLayoutId id="2147483710" r:id="rId9"/>
    <p:sldLayoutId id="2147483755" r:id="rId10"/>
    <p:sldLayoutId id="2147483713" r:id="rId11"/>
    <p:sldLayoutId id="2147483729" r:id="rId12"/>
    <p:sldLayoutId id="2147483662" r:id="rId13"/>
    <p:sldLayoutId id="2147483679" r:id="rId14"/>
    <p:sldLayoutId id="2147483680" r:id="rId15"/>
    <p:sldLayoutId id="2147483681" r:id="rId16"/>
    <p:sldLayoutId id="2147483682" r:id="rId17"/>
    <p:sldLayoutId id="2147483706" r:id="rId18"/>
    <p:sldLayoutId id="2147483689" r:id="rId19"/>
    <p:sldLayoutId id="2147483690" r:id="rId20"/>
    <p:sldLayoutId id="2147483707" r:id="rId21"/>
    <p:sldLayoutId id="2147483708" r:id="rId22"/>
    <p:sldLayoutId id="2147483692" r:id="rId23"/>
    <p:sldLayoutId id="2147483691" r:id="rId24"/>
    <p:sldLayoutId id="2147483732" r:id="rId25"/>
    <p:sldLayoutId id="2147483733" r:id="rId26"/>
    <p:sldLayoutId id="2147483731" r:id="rId27"/>
    <p:sldLayoutId id="2147483730" r:id="rId28"/>
    <p:sldLayoutId id="2147483694" r:id="rId29"/>
    <p:sldLayoutId id="2147483726" r:id="rId30"/>
    <p:sldLayoutId id="2147483693" r:id="rId31"/>
    <p:sldLayoutId id="2147483711" r:id="rId32"/>
    <p:sldLayoutId id="2147483672" r:id="rId33"/>
    <p:sldLayoutId id="2147483673" r:id="rId34"/>
    <p:sldLayoutId id="2147483696" r:id="rId35"/>
    <p:sldLayoutId id="2147483752" r:id="rId36"/>
    <p:sldLayoutId id="2147483754" r:id="rId37"/>
    <p:sldLayoutId id="2147483753" r:id="rId38"/>
    <p:sldLayoutId id="2147483750" r:id="rId39"/>
    <p:sldLayoutId id="2147483742" r:id="rId40"/>
    <p:sldLayoutId id="2147483743" r:id="rId41"/>
    <p:sldLayoutId id="2147483740" r:id="rId42"/>
    <p:sldLayoutId id="2147483664" r:id="rId43"/>
    <p:sldLayoutId id="2147483665" r:id="rId44"/>
    <p:sldLayoutId id="2147483666" r:id="rId45"/>
    <p:sldLayoutId id="2147483667" r:id="rId46"/>
    <p:sldLayoutId id="2147483668" r:id="rId47"/>
    <p:sldLayoutId id="2147483669" r:id="rId48"/>
    <p:sldLayoutId id="2147483685" r:id="rId49"/>
    <p:sldLayoutId id="2147483687" r:id="rId50"/>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0.gif"/></Relationships>
</file>

<file path=ppt/slides/_rels/slide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6.xml"/><Relationship Id="rId4" Type="http://schemas.openxmlformats.org/officeDocument/2006/relationships/image" Target="../media/image10.gif"/></Relationships>
</file>

<file path=ppt/slides/_rels/slide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D321A2-65AC-4C18-CA75-0FB5084CA306}"/>
              </a:ext>
            </a:extLst>
          </p:cNvPr>
          <p:cNvSpPr>
            <a:spLocks noGrp="1"/>
          </p:cNvSpPr>
          <p:nvPr>
            <p:ph type="ctrTitle"/>
          </p:nvPr>
        </p:nvSpPr>
        <p:spPr>
          <a:xfrm>
            <a:off x="208444" y="1909720"/>
            <a:ext cx="5051814" cy="4642301"/>
          </a:xfrm>
        </p:spPr>
        <p:txBody>
          <a:bodyPr/>
          <a:lstStyle/>
          <a:p>
            <a:r>
              <a:rPr lang="en-US" dirty="0"/>
              <a:t>Power and  Conflict Poetry</a:t>
            </a:r>
            <a:br>
              <a:rPr lang="en-US" dirty="0"/>
            </a:br>
            <a:r>
              <a:rPr lang="en-US" dirty="0">
                <a:solidFill>
                  <a:schemeClr val="bg1">
                    <a:lumMod val="65000"/>
                  </a:schemeClr>
                </a:solidFill>
              </a:rPr>
              <a:t>Ozymandias</a:t>
            </a:r>
          </a:p>
        </p:txBody>
      </p:sp>
      <p:sp>
        <p:nvSpPr>
          <p:cNvPr id="5" name="Subtitle 4">
            <a:extLst>
              <a:ext uri="{FF2B5EF4-FFF2-40B4-BE49-F238E27FC236}">
                <a16:creationId xmlns:a16="http://schemas.microsoft.com/office/drawing/2014/main" id="{02FA3257-663D-61CE-A5D5-22B53DB71488}"/>
              </a:ext>
            </a:extLst>
          </p:cNvPr>
          <p:cNvSpPr>
            <a:spLocks noGrp="1"/>
          </p:cNvSpPr>
          <p:nvPr>
            <p:ph type="subTitle" idx="1"/>
          </p:nvPr>
        </p:nvSpPr>
        <p:spPr>
          <a:xfrm>
            <a:off x="631231" y="3317596"/>
            <a:ext cx="4206240" cy="1380744"/>
          </a:xfrm>
        </p:spPr>
        <p:txBody>
          <a:bodyPr/>
          <a:lstStyle/>
          <a:p>
            <a:r>
              <a:rPr lang="en-US" dirty="0"/>
              <a:t>Presented by Olivia + Kiel Mitchell</a:t>
            </a:r>
          </a:p>
        </p:txBody>
      </p:sp>
      <p:pic>
        <p:nvPicPr>
          <p:cNvPr id="7" name="Picture Placeholder 6" descr="A group of houses with red roofs">
            <a:extLst>
              <a:ext uri="{FF2B5EF4-FFF2-40B4-BE49-F238E27FC236}">
                <a16:creationId xmlns:a16="http://schemas.microsoft.com/office/drawing/2014/main" id="{AA6BCCFE-82B9-38D9-8EAD-75148B80BD8F}"/>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p:blipFill>
        <p:spPr>
          <a:xfrm>
            <a:off x="5596128" y="0"/>
            <a:ext cx="6595872" cy="6858000"/>
          </a:xfrm>
        </p:spPr>
      </p:pic>
      <p:pic>
        <p:nvPicPr>
          <p:cNvPr id="6" name="Picture 5">
            <a:extLst>
              <a:ext uri="{FF2B5EF4-FFF2-40B4-BE49-F238E27FC236}">
                <a16:creationId xmlns:a16="http://schemas.microsoft.com/office/drawing/2014/main" id="{63ECFEC9-4380-F019-37DE-3752363FEF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7401" y="6106216"/>
            <a:ext cx="1664878" cy="505586"/>
          </a:xfrm>
          <a:prstGeom prst="rect">
            <a:avLst/>
          </a:prstGeom>
        </p:spPr>
      </p:pic>
    </p:spTree>
    <p:extLst>
      <p:ext uri="{BB962C8B-B14F-4D97-AF65-F5344CB8AC3E}">
        <p14:creationId xmlns:p14="http://schemas.microsoft.com/office/powerpoint/2010/main" val="3069965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255C6-1E2E-E4BD-2E9F-B3321C22A292}"/>
              </a:ext>
            </a:extLst>
          </p:cNvPr>
          <p:cNvSpPr>
            <a:spLocks noGrp="1"/>
          </p:cNvSpPr>
          <p:nvPr>
            <p:ph type="title"/>
          </p:nvPr>
        </p:nvSpPr>
        <p:spPr>
          <a:xfrm>
            <a:off x="612647" y="664108"/>
            <a:ext cx="8467558" cy="1554480"/>
          </a:xfrm>
        </p:spPr>
        <p:txBody>
          <a:bodyPr/>
          <a:lstStyle/>
          <a:p>
            <a:r>
              <a:rPr lang="en-US" dirty="0"/>
              <a:t>Agenda</a:t>
            </a:r>
          </a:p>
        </p:txBody>
      </p:sp>
      <p:sp>
        <p:nvSpPr>
          <p:cNvPr id="3" name="Content Placeholder 2">
            <a:extLst>
              <a:ext uri="{FF2B5EF4-FFF2-40B4-BE49-F238E27FC236}">
                <a16:creationId xmlns:a16="http://schemas.microsoft.com/office/drawing/2014/main" id="{432C04E6-B771-F1FA-85F4-B7984DE55A8E}"/>
              </a:ext>
            </a:extLst>
          </p:cNvPr>
          <p:cNvSpPr>
            <a:spLocks noGrp="1"/>
          </p:cNvSpPr>
          <p:nvPr>
            <p:ph sz="quarter" idx="13"/>
          </p:nvPr>
        </p:nvSpPr>
        <p:spPr>
          <a:xfrm>
            <a:off x="612647" y="2333860"/>
            <a:ext cx="8467558" cy="3689909"/>
          </a:xfrm>
        </p:spPr>
        <p:txBody>
          <a:bodyPr>
            <a:normAutofit/>
          </a:bodyPr>
          <a:lstStyle/>
          <a:p>
            <a:r>
              <a:rPr lang="en-US" dirty="0"/>
              <a:t>Vocabulary check</a:t>
            </a:r>
          </a:p>
          <a:p>
            <a:r>
              <a:rPr lang="en-US" dirty="0"/>
              <a:t>Summary + Reading</a:t>
            </a:r>
          </a:p>
          <a:p>
            <a:r>
              <a:rPr lang="en-US" dirty="0"/>
              <a:t>Context</a:t>
            </a:r>
          </a:p>
          <a:p>
            <a:r>
              <a:rPr lang="en-US" dirty="0"/>
              <a:t>Quotation zoom and poetic techniques</a:t>
            </a:r>
          </a:p>
          <a:p>
            <a:r>
              <a:rPr lang="en-US" dirty="0"/>
              <a:t>Note taking and reflection</a:t>
            </a:r>
          </a:p>
        </p:txBody>
      </p:sp>
      <p:pic>
        <p:nvPicPr>
          <p:cNvPr id="5" name="Picture 4">
            <a:extLst>
              <a:ext uri="{FF2B5EF4-FFF2-40B4-BE49-F238E27FC236}">
                <a16:creationId xmlns:a16="http://schemas.microsoft.com/office/drawing/2014/main" id="{BB5DE0A6-D702-4F06-8125-2B89BD6A8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3561" y="6139041"/>
            <a:ext cx="1664878" cy="505586"/>
          </a:xfrm>
          <a:prstGeom prst="rect">
            <a:avLst/>
          </a:prstGeom>
        </p:spPr>
      </p:pic>
    </p:spTree>
    <p:extLst>
      <p:ext uri="{BB962C8B-B14F-4D97-AF65-F5344CB8AC3E}">
        <p14:creationId xmlns:p14="http://schemas.microsoft.com/office/powerpoint/2010/main" val="421652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79F20-7FE0-9464-CC8C-AAB74EE175D5}"/>
              </a:ext>
            </a:extLst>
          </p:cNvPr>
          <p:cNvSpPr>
            <a:spLocks noGrp="1"/>
          </p:cNvSpPr>
          <p:nvPr>
            <p:ph type="title"/>
          </p:nvPr>
        </p:nvSpPr>
        <p:spPr/>
        <p:txBody>
          <a:bodyPr/>
          <a:lstStyle/>
          <a:p>
            <a:r>
              <a:rPr lang="en-US" dirty="0"/>
              <a:t>Vocabulary</a:t>
            </a:r>
          </a:p>
        </p:txBody>
      </p:sp>
      <p:pic>
        <p:nvPicPr>
          <p:cNvPr id="5" name="Picture Placeholder 4" descr="A road winding through a forest">
            <a:extLst>
              <a:ext uri="{FF2B5EF4-FFF2-40B4-BE49-F238E27FC236}">
                <a16:creationId xmlns:a16="http://schemas.microsoft.com/office/drawing/2014/main" id="{164FB9BE-89B8-A73D-CB0C-5BF6EAC06D9A}"/>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p:blipFill>
        <p:spPr>
          <a:prstGeom prst="rect">
            <a:avLst/>
          </a:prstGeom>
        </p:spPr>
      </p:pic>
      <p:sp>
        <p:nvSpPr>
          <p:cNvPr id="4" name="Content Placeholder 3">
            <a:extLst>
              <a:ext uri="{FF2B5EF4-FFF2-40B4-BE49-F238E27FC236}">
                <a16:creationId xmlns:a16="http://schemas.microsoft.com/office/drawing/2014/main" id="{A8072345-EDED-4266-CFF8-650FF0BB1E47}"/>
              </a:ext>
            </a:extLst>
          </p:cNvPr>
          <p:cNvSpPr>
            <a:spLocks noGrp="1"/>
          </p:cNvSpPr>
          <p:nvPr>
            <p:ph sz="quarter" idx="14"/>
          </p:nvPr>
        </p:nvSpPr>
        <p:spPr/>
        <p:txBody>
          <a:bodyPr>
            <a:noAutofit/>
          </a:bodyPr>
          <a:lstStyle/>
          <a:p>
            <a:pPr marL="0" indent="0">
              <a:buNone/>
            </a:pPr>
            <a:r>
              <a:rPr lang="en-US" sz="1800" dirty="0"/>
              <a:t>We need to know:</a:t>
            </a:r>
          </a:p>
          <a:p>
            <a:pPr marL="0" indent="0">
              <a:buNone/>
            </a:pPr>
            <a:endParaRPr lang="en-US" sz="1800" b="1" dirty="0"/>
          </a:p>
          <a:p>
            <a:pPr marL="0" indent="0">
              <a:buNone/>
            </a:pPr>
            <a:r>
              <a:rPr lang="en-US" sz="1800" b="1" dirty="0"/>
              <a:t>‘Trunkless’</a:t>
            </a:r>
          </a:p>
          <a:p>
            <a:pPr marL="0" indent="0">
              <a:spcBef>
                <a:spcPts val="0"/>
              </a:spcBef>
              <a:spcAft>
                <a:spcPts val="1000"/>
              </a:spcAft>
              <a:buNone/>
            </a:pPr>
            <a:r>
              <a:rPr lang="en-US" sz="1800" dirty="0"/>
              <a:t>Missing the body. Only the legs stand.</a:t>
            </a:r>
          </a:p>
          <a:p>
            <a:pPr marL="0" indent="0">
              <a:spcBef>
                <a:spcPts val="0"/>
              </a:spcBef>
              <a:spcAft>
                <a:spcPts val="1000"/>
              </a:spcAft>
              <a:buNone/>
            </a:pPr>
            <a:endParaRPr lang="en-US" sz="1800" dirty="0"/>
          </a:p>
          <a:p>
            <a:pPr marL="0" indent="0">
              <a:spcBef>
                <a:spcPts val="0"/>
              </a:spcBef>
              <a:spcAft>
                <a:spcPts val="1000"/>
              </a:spcAft>
              <a:buNone/>
            </a:pPr>
            <a:r>
              <a:rPr lang="en-US" sz="1800" b="1" dirty="0"/>
              <a:t>‘Ozymandias’</a:t>
            </a:r>
          </a:p>
          <a:p>
            <a:pPr marL="0" indent="0">
              <a:spcBef>
                <a:spcPts val="0"/>
              </a:spcBef>
              <a:spcAft>
                <a:spcPts val="1000"/>
              </a:spcAft>
              <a:buNone/>
            </a:pPr>
            <a:r>
              <a:rPr lang="en-US" sz="1800" dirty="0"/>
              <a:t>This is a translation of the name </a:t>
            </a:r>
            <a:r>
              <a:rPr lang="en-US" sz="1800" dirty="0" err="1"/>
              <a:t>Ramsees</a:t>
            </a:r>
            <a:r>
              <a:rPr lang="en-US" sz="1800" dirty="0"/>
              <a:t> II</a:t>
            </a:r>
          </a:p>
          <a:p>
            <a:pPr marL="0" indent="0">
              <a:spcBef>
                <a:spcPts val="0"/>
              </a:spcBef>
              <a:spcAft>
                <a:spcPts val="1000"/>
              </a:spcAft>
              <a:buNone/>
            </a:pPr>
            <a:endParaRPr lang="en-US" sz="1800" dirty="0"/>
          </a:p>
          <a:p>
            <a:pPr marL="0" indent="0">
              <a:buNone/>
            </a:pPr>
            <a:r>
              <a:rPr lang="en-US" sz="1800" b="1" dirty="0"/>
              <a:t>‘Visage’</a:t>
            </a:r>
          </a:p>
          <a:p>
            <a:pPr marL="0" indent="0">
              <a:spcBef>
                <a:spcPts val="0"/>
              </a:spcBef>
              <a:spcAft>
                <a:spcPts val="1000"/>
              </a:spcAft>
              <a:buNone/>
            </a:pPr>
            <a:r>
              <a:rPr lang="en-US" sz="1800" dirty="0"/>
              <a:t>Face and its expression.</a:t>
            </a:r>
          </a:p>
        </p:txBody>
      </p:sp>
    </p:spTree>
    <p:extLst>
      <p:ext uri="{BB962C8B-B14F-4D97-AF65-F5344CB8AC3E}">
        <p14:creationId xmlns:p14="http://schemas.microsoft.com/office/powerpoint/2010/main" val="1941379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4A5-0283-F980-85F3-EE51746FC4CD}"/>
              </a:ext>
            </a:extLst>
          </p:cNvPr>
          <p:cNvSpPr>
            <a:spLocks noGrp="1"/>
          </p:cNvSpPr>
          <p:nvPr>
            <p:ph type="title"/>
          </p:nvPr>
        </p:nvSpPr>
        <p:spPr/>
        <p:txBody>
          <a:bodyPr/>
          <a:lstStyle/>
          <a:p>
            <a:r>
              <a:rPr lang="en-US" dirty="0"/>
              <a:t>Summary + Reading</a:t>
            </a:r>
          </a:p>
        </p:txBody>
      </p:sp>
      <p:sp>
        <p:nvSpPr>
          <p:cNvPr id="3" name="Content Placeholder 2">
            <a:extLst>
              <a:ext uri="{FF2B5EF4-FFF2-40B4-BE49-F238E27FC236}">
                <a16:creationId xmlns:a16="http://schemas.microsoft.com/office/drawing/2014/main" id="{1A385359-5FD3-D5C8-1467-F7082543AA4C}"/>
              </a:ext>
            </a:extLst>
          </p:cNvPr>
          <p:cNvSpPr>
            <a:spLocks noGrp="1"/>
          </p:cNvSpPr>
          <p:nvPr>
            <p:ph sz="quarter" idx="14"/>
          </p:nvPr>
        </p:nvSpPr>
        <p:spPr/>
        <p:txBody>
          <a:bodyPr>
            <a:noAutofit/>
          </a:bodyPr>
          <a:lstStyle/>
          <a:p>
            <a:pPr marL="0" indent="0" algn="l" rtl="0" fontAlgn="base">
              <a:lnSpc>
                <a:spcPts val="3375"/>
              </a:lnSpc>
              <a:buNone/>
            </a:pPr>
            <a:r>
              <a:rPr lang="en-US" b="0" i="0" u="none" strike="noStrike" dirty="0">
                <a:solidFill>
                  <a:srgbClr val="000000"/>
                </a:solidFill>
                <a:effectLst/>
              </a:rPr>
              <a:t>This poem is all about….</a:t>
            </a:r>
          </a:p>
          <a:p>
            <a:pPr marL="0" indent="0" algn="l" rtl="0" fontAlgn="base">
              <a:lnSpc>
                <a:spcPts val="3375"/>
              </a:lnSpc>
              <a:buNone/>
            </a:pPr>
            <a:endParaRPr lang="en-US" dirty="0">
              <a:solidFill>
                <a:srgbClr val="000000"/>
              </a:solidFill>
            </a:endParaRPr>
          </a:p>
        </p:txBody>
      </p:sp>
      <p:pic>
        <p:nvPicPr>
          <p:cNvPr id="5" name="Picture Placeholder 4" descr="A person standing in an office">
            <a:extLst>
              <a:ext uri="{FF2B5EF4-FFF2-40B4-BE49-F238E27FC236}">
                <a16:creationId xmlns:a16="http://schemas.microsoft.com/office/drawing/2014/main" id="{2E5B50B9-E58D-93E5-6072-B20B89B7A7EF}"/>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p:blipFill>
        <p:spPr>
          <a:prstGeom prst="rect">
            <a:avLst/>
          </a:prstGeom>
        </p:spPr>
      </p:pic>
      <p:pic>
        <p:nvPicPr>
          <p:cNvPr id="4" name="Picture 3">
            <a:extLst>
              <a:ext uri="{FF2B5EF4-FFF2-40B4-BE49-F238E27FC236}">
                <a16:creationId xmlns:a16="http://schemas.microsoft.com/office/drawing/2014/main" id="{015846E3-82E5-E4A7-E36B-37E1D68608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6209" y="6239447"/>
            <a:ext cx="1664878" cy="505586"/>
          </a:xfrm>
          <a:prstGeom prst="rect">
            <a:avLst/>
          </a:prstGeom>
        </p:spPr>
      </p:pic>
    </p:spTree>
    <p:extLst>
      <p:ext uri="{BB962C8B-B14F-4D97-AF65-F5344CB8AC3E}">
        <p14:creationId xmlns:p14="http://schemas.microsoft.com/office/powerpoint/2010/main" val="3313450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50E1-014E-2F32-5FE0-025C27322ADF}"/>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A36B70B6-B9DD-8293-E045-C9E0BE21FEB2}"/>
              </a:ext>
            </a:extLst>
          </p:cNvPr>
          <p:cNvSpPr>
            <a:spLocks noGrp="1"/>
          </p:cNvSpPr>
          <p:nvPr>
            <p:ph sz="quarter" idx="13"/>
          </p:nvPr>
        </p:nvSpPr>
        <p:spPr>
          <a:xfrm>
            <a:off x="5290819" y="561760"/>
            <a:ext cx="6159500" cy="5390822"/>
          </a:xfrm>
        </p:spPr>
        <p:txBody>
          <a:bodyPr>
            <a:normAutofit/>
          </a:bodyPr>
          <a:lstStyle/>
          <a:p>
            <a:pPr marL="0" indent="0">
              <a:lnSpc>
                <a:spcPct val="110000"/>
              </a:lnSpc>
              <a:spcBef>
                <a:spcPts val="2500"/>
              </a:spcBef>
              <a:buNone/>
            </a:pPr>
            <a:r>
              <a:rPr lang="en-US" sz="1800" b="1" dirty="0"/>
              <a:t>Time period</a:t>
            </a:r>
          </a:p>
          <a:p>
            <a:pPr marL="0" lvl="1" indent="0">
              <a:lnSpc>
                <a:spcPct val="110000"/>
              </a:lnSpc>
              <a:buNone/>
            </a:pPr>
            <a:r>
              <a:rPr lang="en-US" sz="1800" b="0" i="0" u="none" strike="noStrike" dirty="0">
                <a:solidFill>
                  <a:srgbClr val="000000"/>
                </a:solidFill>
                <a:effectLst/>
              </a:rPr>
              <a:t>The Victorian era was a time of [insert relevant context here]</a:t>
            </a:r>
            <a:endParaRPr lang="en-US" dirty="0"/>
          </a:p>
          <a:p>
            <a:pPr marL="0" indent="0">
              <a:lnSpc>
                <a:spcPct val="110000"/>
              </a:lnSpc>
              <a:spcBef>
                <a:spcPts val="2500"/>
              </a:spcBef>
              <a:buNone/>
            </a:pPr>
            <a:r>
              <a:rPr lang="en-US" sz="1800" b="1" dirty="0"/>
              <a:t>Poet’s background</a:t>
            </a:r>
          </a:p>
          <a:p>
            <a:pPr marL="0" indent="0">
              <a:lnSpc>
                <a:spcPct val="110000"/>
              </a:lnSpc>
              <a:spcBef>
                <a:spcPts val="2500"/>
              </a:spcBef>
              <a:buNone/>
            </a:pPr>
            <a:r>
              <a:rPr lang="en-US" sz="1800" dirty="0"/>
              <a:t>[insert name] grew up in […] and had a father who went to war.</a:t>
            </a:r>
            <a:endParaRPr lang="en-US" sz="1800" b="1" dirty="0"/>
          </a:p>
          <a:p>
            <a:pPr marL="0" indent="0">
              <a:lnSpc>
                <a:spcPct val="110000"/>
              </a:lnSpc>
              <a:spcBef>
                <a:spcPts val="2500"/>
              </a:spcBef>
              <a:buNone/>
            </a:pPr>
            <a:r>
              <a:rPr lang="en-US" sz="1800" b="1" dirty="0"/>
              <a:t>Key Summary</a:t>
            </a:r>
          </a:p>
          <a:p>
            <a:pPr marL="0" indent="0">
              <a:lnSpc>
                <a:spcPct val="110000"/>
              </a:lnSpc>
              <a:spcBef>
                <a:spcPts val="2500"/>
              </a:spcBef>
              <a:buNone/>
            </a:pPr>
            <a:r>
              <a:rPr lang="en-US" sz="1800" dirty="0"/>
              <a:t>-Unstable childhood </a:t>
            </a:r>
          </a:p>
          <a:p>
            <a:pPr>
              <a:lnSpc>
                <a:spcPct val="110000"/>
              </a:lnSpc>
              <a:spcBef>
                <a:spcPts val="2500"/>
              </a:spcBef>
              <a:buFontTx/>
              <a:buChar char="-"/>
            </a:pPr>
            <a:r>
              <a:rPr lang="en-US" sz="1800" dirty="0"/>
              <a:t>Father went to war</a:t>
            </a:r>
          </a:p>
          <a:p>
            <a:pPr>
              <a:lnSpc>
                <a:spcPct val="110000"/>
              </a:lnSpc>
              <a:spcBef>
                <a:spcPts val="2500"/>
              </a:spcBef>
              <a:buFontTx/>
              <a:buChar char="-"/>
            </a:pPr>
            <a:r>
              <a:rPr lang="en-US" sz="1800" dirty="0"/>
              <a:t>Known for dramatic monologues</a:t>
            </a:r>
          </a:p>
        </p:txBody>
      </p:sp>
      <p:pic>
        <p:nvPicPr>
          <p:cNvPr id="4" name="Picture 3">
            <a:extLst>
              <a:ext uri="{FF2B5EF4-FFF2-40B4-BE49-F238E27FC236}">
                <a16:creationId xmlns:a16="http://schemas.microsoft.com/office/drawing/2014/main" id="{CAF00FB6-8A38-88CD-9426-A34B94725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6909" y="6087047"/>
            <a:ext cx="1664878" cy="505586"/>
          </a:xfrm>
          <a:prstGeom prst="rect">
            <a:avLst/>
          </a:prstGeom>
        </p:spPr>
      </p:pic>
      <p:pic>
        <p:nvPicPr>
          <p:cNvPr id="5" name="Picture Placeholder 5" descr="A yellow flower in a green leafy plant">
            <a:extLst>
              <a:ext uri="{FF2B5EF4-FFF2-40B4-BE49-F238E27FC236}">
                <a16:creationId xmlns:a16="http://schemas.microsoft.com/office/drawing/2014/main" id="{A7A95E01-1F94-2FF2-C8CA-C48206E65D55}"/>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741681" y="2233779"/>
            <a:ext cx="3490176" cy="4041648"/>
          </a:xfrm>
          <a:prstGeom prst="rect">
            <a:avLst/>
          </a:prstGeom>
        </p:spPr>
      </p:pic>
    </p:spTree>
    <p:extLst>
      <p:ext uri="{BB962C8B-B14F-4D97-AF65-F5344CB8AC3E}">
        <p14:creationId xmlns:p14="http://schemas.microsoft.com/office/powerpoint/2010/main" val="187927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97B4E-3C70-7F36-A4BF-7CA5CBC848F4}"/>
              </a:ext>
            </a:extLst>
          </p:cNvPr>
          <p:cNvSpPr>
            <a:spLocks noGrp="1"/>
          </p:cNvSpPr>
          <p:nvPr>
            <p:ph type="title"/>
          </p:nvPr>
        </p:nvSpPr>
        <p:spPr>
          <a:xfrm>
            <a:off x="612648" y="-1133856"/>
            <a:ext cx="10652760" cy="1133856"/>
          </a:xfrm>
        </p:spPr>
        <p:txBody>
          <a:bodyPr/>
          <a:lstStyle/>
          <a:p>
            <a:r>
              <a:rPr lang="en-US" dirty="0"/>
              <a:t>Delivering with confidence</a:t>
            </a:r>
          </a:p>
        </p:txBody>
      </p:sp>
      <p:sp>
        <p:nvSpPr>
          <p:cNvPr id="3" name="Content Placeholder 2">
            <a:extLst>
              <a:ext uri="{FF2B5EF4-FFF2-40B4-BE49-F238E27FC236}">
                <a16:creationId xmlns:a16="http://schemas.microsoft.com/office/drawing/2014/main" id="{4227E922-AE57-EC70-406A-77ED03351FF3}"/>
              </a:ext>
            </a:extLst>
          </p:cNvPr>
          <p:cNvSpPr>
            <a:spLocks noGrp="1"/>
          </p:cNvSpPr>
          <p:nvPr>
            <p:ph sz="quarter" idx="13"/>
          </p:nvPr>
        </p:nvSpPr>
        <p:spPr>
          <a:xfrm>
            <a:off x="1039368" y="2448560"/>
            <a:ext cx="10492232" cy="5605272"/>
          </a:xfrm>
        </p:spPr>
        <p:txBody>
          <a:bodyPr/>
          <a:lstStyle/>
          <a:p>
            <a:r>
              <a:rPr lang="en-US" dirty="0"/>
              <a:t>“Two vast and trunkless legs of stone stand in the desert…”</a:t>
            </a:r>
          </a:p>
        </p:txBody>
      </p:sp>
      <p:pic>
        <p:nvPicPr>
          <p:cNvPr id="4" name="Picture 3">
            <a:extLst>
              <a:ext uri="{FF2B5EF4-FFF2-40B4-BE49-F238E27FC236}">
                <a16:creationId xmlns:a16="http://schemas.microsoft.com/office/drawing/2014/main" id="{0DE5CF97-4718-5F83-7E8B-0DCA4382D4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6909" y="6087047"/>
            <a:ext cx="1664878" cy="505586"/>
          </a:xfrm>
          <a:prstGeom prst="rect">
            <a:avLst/>
          </a:prstGeom>
        </p:spPr>
      </p:pic>
    </p:spTree>
    <p:extLst>
      <p:ext uri="{BB962C8B-B14F-4D97-AF65-F5344CB8AC3E}">
        <p14:creationId xmlns:p14="http://schemas.microsoft.com/office/powerpoint/2010/main" val="3947552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2400-94AD-31F6-37F1-0D9392194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B50A7-8097-B5C9-4E58-9ED8D14ADA20}"/>
              </a:ext>
            </a:extLst>
          </p:cNvPr>
          <p:cNvSpPr>
            <a:spLocks noGrp="1"/>
          </p:cNvSpPr>
          <p:nvPr>
            <p:ph type="title"/>
          </p:nvPr>
        </p:nvSpPr>
        <p:spPr>
          <a:xfrm>
            <a:off x="612648" y="548640"/>
            <a:ext cx="10653578" cy="1132258"/>
          </a:xfrm>
        </p:spPr>
        <p:txBody>
          <a:bodyPr>
            <a:normAutofit/>
          </a:bodyPr>
          <a:lstStyle/>
          <a:p>
            <a:r>
              <a:rPr lang="en-US" dirty="0"/>
              <a:t>Summary</a:t>
            </a:r>
          </a:p>
        </p:txBody>
      </p:sp>
      <p:graphicFrame>
        <p:nvGraphicFramePr>
          <p:cNvPr id="6" name="Content Placeholder 5">
            <a:extLst>
              <a:ext uri="{FF2B5EF4-FFF2-40B4-BE49-F238E27FC236}">
                <a16:creationId xmlns:a16="http://schemas.microsoft.com/office/drawing/2014/main" id="{3E0E4A8A-55D4-88B9-EAFE-F5DD91417A46}"/>
              </a:ext>
            </a:extLst>
          </p:cNvPr>
          <p:cNvGraphicFramePr>
            <a:graphicFrameLocks noGrp="1"/>
          </p:cNvGraphicFramePr>
          <p:nvPr>
            <p:ph idx="1"/>
            <p:extLst>
              <p:ext uri="{D42A27DB-BD31-4B8C-83A1-F6EECF244321}">
                <p14:modId xmlns:p14="http://schemas.microsoft.com/office/powerpoint/2010/main" val="2712371313"/>
              </p:ext>
            </p:extLst>
          </p:nvPr>
        </p:nvGraphicFramePr>
        <p:xfrm>
          <a:off x="612648" y="1370648"/>
          <a:ext cx="10653711" cy="5029200"/>
        </p:xfrm>
        <a:graphic>
          <a:graphicData uri="http://schemas.openxmlformats.org/drawingml/2006/table">
            <a:tbl>
              <a:tblPr firstRow="1" bandRow="1">
                <a:tableStyleId>{5C22544A-7EE6-4342-B048-85BDC9FD1C3A}</a:tableStyleId>
              </a:tblPr>
              <a:tblGrid>
                <a:gridCol w="2254411">
                  <a:extLst>
                    <a:ext uri="{9D8B030D-6E8A-4147-A177-3AD203B41FA5}">
                      <a16:colId xmlns:a16="http://schemas.microsoft.com/office/drawing/2014/main" val="2236123262"/>
                    </a:ext>
                  </a:extLst>
                </a:gridCol>
                <a:gridCol w="4199650">
                  <a:extLst>
                    <a:ext uri="{9D8B030D-6E8A-4147-A177-3AD203B41FA5}">
                      <a16:colId xmlns:a16="http://schemas.microsoft.com/office/drawing/2014/main" val="583127937"/>
                    </a:ext>
                  </a:extLst>
                </a:gridCol>
                <a:gridCol w="4199650">
                  <a:extLst>
                    <a:ext uri="{9D8B030D-6E8A-4147-A177-3AD203B41FA5}">
                      <a16:colId xmlns:a16="http://schemas.microsoft.com/office/drawing/2014/main" val="3633622998"/>
                    </a:ext>
                  </a:extLst>
                </a:gridCol>
              </a:tblGrid>
              <a:tr h="640080">
                <a:tc>
                  <a:txBody>
                    <a:bodyPr/>
                    <a:lstStyle/>
                    <a:p>
                      <a:r>
                        <a:rPr lang="en-US" sz="1800" b="1" dirty="0"/>
                        <a:t>Feature</a:t>
                      </a:r>
                    </a:p>
                  </a:txBody>
                  <a:tcPr marL="137160" marR="137160" marT="137160" marB="137160" anchor="ctr"/>
                </a:tc>
                <a:tc>
                  <a:txBody>
                    <a:bodyPr/>
                    <a:lstStyle/>
                    <a:p>
                      <a:r>
                        <a:rPr lang="en-US" sz="1800" b="0" dirty="0"/>
                        <a:t>Quotation</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Impact</a:t>
                      </a:r>
                    </a:p>
                  </a:txBody>
                  <a:tcPr marL="137160" marR="137160" marT="137160" marB="137160" anchor="ctr"/>
                </a:tc>
                <a:extLst>
                  <a:ext uri="{0D108BD9-81ED-4DB2-BD59-A6C34878D82A}">
                    <a16:rowId xmlns:a16="http://schemas.microsoft.com/office/drawing/2014/main" val="1971733978"/>
                  </a:ext>
                </a:extLst>
              </a:tr>
              <a:tr h="640080">
                <a:tc>
                  <a:txBody>
                    <a:bodyPr/>
                    <a:lstStyle/>
                    <a:p>
                      <a:r>
                        <a:rPr lang="en-US" sz="1800" b="1" dirty="0"/>
                        <a:t>Alliteration</a:t>
                      </a:r>
                    </a:p>
                  </a:txBody>
                  <a:tcPr marL="137160" marR="137160" marT="137160" marB="137160" anchor="ctr"/>
                </a:tc>
                <a:tc>
                  <a:txBody>
                    <a:bodyPr/>
                    <a:lstStyle/>
                    <a:p>
                      <a:r>
                        <a:rPr lang="en-US" sz="1800" b="0" dirty="0"/>
                        <a:t>[insert relevant quotes]</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Mimic sounds heard on battlefield </a:t>
                      </a:r>
                    </a:p>
                  </a:txBody>
                  <a:tcPr marL="137160" marR="137160" marT="137160" marB="137160" anchor="ctr"/>
                </a:tc>
                <a:extLst>
                  <a:ext uri="{0D108BD9-81ED-4DB2-BD59-A6C34878D82A}">
                    <a16:rowId xmlns:a16="http://schemas.microsoft.com/office/drawing/2014/main" val="458163444"/>
                  </a:ext>
                </a:extLst>
              </a:tr>
              <a:tr h="640080">
                <a:tc>
                  <a:txBody>
                    <a:bodyPr/>
                    <a:lstStyle/>
                    <a:p>
                      <a:r>
                        <a:rPr lang="en-US" sz="1800" b="1" dirty="0"/>
                        <a:t>Simile</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[insert relevant quotes]</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Makes nature imagery more vivid</a:t>
                      </a:r>
                    </a:p>
                  </a:txBody>
                  <a:tcPr marL="137160" marR="137160" marT="137160" marB="137160" anchor="ctr"/>
                </a:tc>
                <a:extLst>
                  <a:ext uri="{0D108BD9-81ED-4DB2-BD59-A6C34878D82A}">
                    <a16:rowId xmlns:a16="http://schemas.microsoft.com/office/drawing/2014/main" val="825465077"/>
                  </a:ext>
                </a:extLst>
              </a:tr>
              <a:tr h="640080">
                <a:tc>
                  <a:txBody>
                    <a:bodyPr/>
                    <a:lstStyle/>
                    <a:p>
                      <a:r>
                        <a:rPr lang="en-US" sz="1800" b="1" dirty="0"/>
                        <a:t>Symbolism </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[insert relevant quotes]</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Focuses attention on power of war</a:t>
                      </a:r>
                    </a:p>
                  </a:txBody>
                  <a:tcPr marL="137160" marR="137160" marT="137160" marB="137160" anchor="ctr"/>
                </a:tc>
                <a:extLst>
                  <a:ext uri="{0D108BD9-81ED-4DB2-BD59-A6C34878D82A}">
                    <a16:rowId xmlns:a16="http://schemas.microsoft.com/office/drawing/2014/main" val="3446475176"/>
                  </a:ext>
                </a:extLst>
              </a:tr>
              <a:tr h="640080">
                <a:tc>
                  <a:txBody>
                    <a:bodyPr/>
                    <a:lstStyle/>
                    <a:p>
                      <a:r>
                        <a:rPr lang="en-US" sz="1800" b="1" dirty="0"/>
                        <a:t>Anaphora</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[insert relevant quotes]</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Emphasis the point and mimics footfall of soldiers</a:t>
                      </a:r>
                    </a:p>
                  </a:txBody>
                  <a:tcPr marL="137160" marR="137160" marT="137160" marB="137160" anchor="ctr"/>
                </a:tc>
                <a:extLst>
                  <a:ext uri="{0D108BD9-81ED-4DB2-BD59-A6C34878D82A}">
                    <a16:rowId xmlns:a16="http://schemas.microsoft.com/office/drawing/2014/main" val="4031271249"/>
                  </a:ext>
                </a:extLst>
              </a:tr>
              <a:tr h="640080">
                <a:tc>
                  <a:txBody>
                    <a:bodyPr/>
                    <a:lstStyle/>
                    <a:p>
                      <a:r>
                        <a:rPr lang="en-US" sz="1800" b="1" dirty="0"/>
                        <a:t>Caesura</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[insert relevant quotes]</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Reiterates the unreliable narrator</a:t>
                      </a:r>
                    </a:p>
                    <a:p>
                      <a:endParaRPr lang="en-US" sz="1800" b="0" dirty="0"/>
                    </a:p>
                  </a:txBody>
                  <a:tcPr marL="137160" marR="137160" marT="137160" marB="137160" anchor="ctr"/>
                </a:tc>
                <a:extLst>
                  <a:ext uri="{0D108BD9-81ED-4DB2-BD59-A6C34878D82A}">
                    <a16:rowId xmlns:a16="http://schemas.microsoft.com/office/drawing/2014/main" val="2924049109"/>
                  </a:ext>
                </a:extLst>
              </a:tr>
              <a:tr h="640080">
                <a:tc>
                  <a:txBody>
                    <a:bodyPr/>
                    <a:lstStyle/>
                    <a:p>
                      <a:r>
                        <a:rPr lang="en-US" sz="1800" b="1" dirty="0"/>
                        <a:t>Cyclical structure</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[insert relevant quotes]</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Reveals inevitability of death and loss of power</a:t>
                      </a:r>
                    </a:p>
                  </a:txBody>
                  <a:tcPr marL="137160" marR="137160" marT="137160" marB="137160" anchor="ctr"/>
                </a:tc>
                <a:extLst>
                  <a:ext uri="{0D108BD9-81ED-4DB2-BD59-A6C34878D82A}">
                    <a16:rowId xmlns:a16="http://schemas.microsoft.com/office/drawing/2014/main" val="1861033052"/>
                  </a:ext>
                </a:extLst>
              </a:tr>
            </a:tbl>
          </a:graphicData>
        </a:graphic>
      </p:graphicFrame>
    </p:spTree>
    <p:extLst>
      <p:ext uri="{BB962C8B-B14F-4D97-AF65-F5344CB8AC3E}">
        <p14:creationId xmlns:p14="http://schemas.microsoft.com/office/powerpoint/2010/main" val="1384372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4BAC0-3BC6-44D9-6E3A-71FABD1ECA99}"/>
              </a:ext>
            </a:extLst>
          </p:cNvPr>
          <p:cNvSpPr>
            <a:spLocks noGrp="1"/>
          </p:cNvSpPr>
          <p:nvPr>
            <p:ph type="title"/>
          </p:nvPr>
        </p:nvSpPr>
        <p:spPr/>
        <p:txBody>
          <a:bodyPr/>
          <a:lstStyle/>
          <a:p>
            <a:r>
              <a:rPr lang="en-US" dirty="0"/>
              <a:t>Last bits</a:t>
            </a:r>
            <a:endParaRPr lang="en-GB" dirty="0"/>
          </a:p>
        </p:txBody>
      </p:sp>
      <p:sp>
        <p:nvSpPr>
          <p:cNvPr id="3" name="Content Placeholder 2">
            <a:extLst>
              <a:ext uri="{FF2B5EF4-FFF2-40B4-BE49-F238E27FC236}">
                <a16:creationId xmlns:a16="http://schemas.microsoft.com/office/drawing/2014/main" id="{1E1E2796-B41E-2B39-B8B2-FA8EE3C0343D}"/>
              </a:ext>
            </a:extLst>
          </p:cNvPr>
          <p:cNvSpPr>
            <a:spLocks noGrp="1"/>
          </p:cNvSpPr>
          <p:nvPr>
            <p:ph sz="quarter" idx="14"/>
          </p:nvPr>
        </p:nvSpPr>
        <p:spPr/>
        <p:txBody>
          <a:bodyPr/>
          <a:lstStyle/>
          <a:p>
            <a:pPr marL="0" indent="0">
              <a:buNone/>
            </a:pPr>
            <a:endParaRPr lang="en-GB" dirty="0"/>
          </a:p>
        </p:txBody>
      </p:sp>
      <p:sp>
        <p:nvSpPr>
          <p:cNvPr id="4" name="Picture Placeholder 3">
            <a:extLst>
              <a:ext uri="{FF2B5EF4-FFF2-40B4-BE49-F238E27FC236}">
                <a16:creationId xmlns:a16="http://schemas.microsoft.com/office/drawing/2014/main" id="{9101DF54-D4CB-FD83-6B68-0B3B4AE9131E}"/>
              </a:ext>
            </a:extLst>
          </p:cNvPr>
          <p:cNvSpPr>
            <a:spLocks noGrp="1"/>
          </p:cNvSpPr>
          <p:nvPr>
            <p:ph type="pic" sz="quarter" idx="13"/>
          </p:nvPr>
        </p:nvSpPr>
        <p:spPr/>
        <p:txBody>
          <a:bodyPr/>
          <a:lstStyle/>
          <a:p>
            <a:endParaRPr lang="en-GB"/>
          </a:p>
        </p:txBody>
      </p:sp>
    </p:spTree>
    <p:extLst>
      <p:ext uri="{BB962C8B-B14F-4D97-AF65-F5344CB8AC3E}">
        <p14:creationId xmlns:p14="http://schemas.microsoft.com/office/powerpoint/2010/main" val="2263196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209B1-CECE-7466-7044-9D73619E56A1}"/>
              </a:ext>
            </a:extLst>
          </p:cNvPr>
          <p:cNvSpPr>
            <a:spLocks noGrp="1"/>
          </p:cNvSpPr>
          <p:nvPr>
            <p:ph type="ctrTitle"/>
          </p:nvPr>
        </p:nvSpPr>
        <p:spPr>
          <a:xfrm>
            <a:off x="365760" y="5218032"/>
            <a:ext cx="11460480" cy="786384"/>
          </a:xfrm>
        </p:spPr>
        <p:txBody>
          <a:bodyPr/>
          <a:lstStyle/>
          <a:p>
            <a:r>
              <a:rPr lang="en-US" dirty="0"/>
              <a:t>Reflect…</a:t>
            </a:r>
          </a:p>
        </p:txBody>
      </p:sp>
      <p:sp>
        <p:nvSpPr>
          <p:cNvPr id="3" name="Subtitle 2">
            <a:extLst>
              <a:ext uri="{FF2B5EF4-FFF2-40B4-BE49-F238E27FC236}">
                <a16:creationId xmlns:a16="http://schemas.microsoft.com/office/drawing/2014/main" id="{0D66681B-5E1B-BD2B-6960-3B46EFE83A39}"/>
              </a:ext>
            </a:extLst>
          </p:cNvPr>
          <p:cNvSpPr>
            <a:spLocks noGrp="1"/>
          </p:cNvSpPr>
          <p:nvPr>
            <p:ph type="subTitle" idx="1"/>
          </p:nvPr>
        </p:nvSpPr>
        <p:spPr>
          <a:xfrm>
            <a:off x="365760" y="5972629"/>
            <a:ext cx="11460480" cy="480373"/>
          </a:xfrm>
        </p:spPr>
        <p:txBody>
          <a:bodyPr/>
          <a:lstStyle/>
          <a:p>
            <a:r>
              <a:rPr lang="en-US" dirty="0"/>
              <a:t>Use our course materials to test your knowledge.</a:t>
            </a:r>
          </a:p>
        </p:txBody>
      </p:sp>
      <p:pic>
        <p:nvPicPr>
          <p:cNvPr id="6" name="Picture Placeholder 5" descr="People floating on inner tubes in the water">
            <a:extLst>
              <a:ext uri="{FF2B5EF4-FFF2-40B4-BE49-F238E27FC236}">
                <a16:creationId xmlns:a16="http://schemas.microsoft.com/office/drawing/2014/main" id="{7D071976-9DDA-8EF5-F9B4-1BE7497CC16D}"/>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p:blipFill>
        <p:spPr>
          <a:xfrm>
            <a:off x="0" y="0"/>
            <a:ext cx="12191999" cy="4986425"/>
          </a:xfrm>
        </p:spPr>
      </p:pic>
    </p:spTree>
    <p:extLst>
      <p:ext uri="{BB962C8B-B14F-4D97-AF65-F5344CB8AC3E}">
        <p14:creationId xmlns:p14="http://schemas.microsoft.com/office/powerpoint/2010/main" val="2999686948"/>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_win32_DN_V3" id="{9F427321-9060-43C1-8B15-4D38A9FA231C}" vid="{F91C65FD-DCCD-4832-9662-5F5E106155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A2E174-8201-44C8-8E86-D532E6482AA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815C017-F059-461C-B5CA-F74FA8291930}">
  <ds:schemaRefs>
    <ds:schemaRef ds:uri="http://schemas.microsoft.com/sharepoint/v3/contenttype/forms"/>
  </ds:schemaRefs>
</ds:datastoreItem>
</file>

<file path=customXml/itemProps3.xml><?xml version="1.0" encoding="utf-8"?>
<ds:datastoreItem xmlns:ds="http://schemas.openxmlformats.org/officeDocument/2006/customXml" ds:itemID="{AF7CFCFE-9E11-486F-94A1-AD5EF62DEC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{B24B5083-98AE-4B88-8FD4-28E496762A5E}9db5ba7a-f6a8-423e-8130-f3099013613b-TF6f351658-02aa-4255-a406-604a46294ca9_win32</Template>
  <TotalTime>0</TotalTime>
  <Words>634</Words>
  <Application>Microsoft Office PowerPoint</Application>
  <PresentationFormat>Widescreen</PresentationFormat>
  <Paragraphs>75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Neue Haas Grotesk Text Pro</vt:lpstr>
      <vt:lpstr>Helena</vt:lpstr>
      <vt:lpstr>Power and  Conflict Poetry Ozymandias</vt:lpstr>
      <vt:lpstr>Agenda</vt:lpstr>
      <vt:lpstr>Vocabulary</vt:lpstr>
      <vt:lpstr>Summary + Reading</vt:lpstr>
      <vt:lpstr>Context</vt:lpstr>
      <vt:lpstr>Delivering with confidence</vt:lpstr>
      <vt:lpstr>Summary</vt:lpstr>
      <vt:lpstr>Last bits</vt:lpstr>
      <vt:lpstr>Reflect…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olivia mitchell</dc:creator>
  <cp:lastModifiedBy>olivia mitchell</cp:lastModifiedBy>
  <cp:revision>1</cp:revision>
  <dcterms:created xsi:type="dcterms:W3CDTF">2026-04-08T18:34:57Z</dcterms:created>
  <dcterms:modified xsi:type="dcterms:W3CDTF">2026-04-08T19:17:10Z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